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2011680" cy="73152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Wallet Perú: registro y activación del MVP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D6E0F5"/>
                </a:solidFill>
                <a:latin typeface="Calibri"/>
              </a:rPr>
              <a:t>Caso de negocio · Visión del Product Owner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7607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A9B8D6"/>
                </a:solidFill>
                <a:latin typeface="Calibri"/>
              </a:rPr>
              <a:t>Épica: MVP de wallet en Perú para pagos cotidianos · Hackatón Día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64008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El problema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4A5568"/>
                </a:solidFill>
                <a:latin typeface="Calibr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5120640" cy="4206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4572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4A5568"/>
                </a:solidFill>
                <a:latin typeface="Calibri"/>
              </a:rPr>
              <a:t>Mediana de onboarding hoy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45720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8800" b="1">
                <a:solidFill>
                  <a:srgbClr val="C93C3C"/>
                </a:solidFill>
                <a:latin typeface="Calibri"/>
              </a:rPr>
              <a:t>8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45720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4A5568"/>
                </a:solidFill>
                <a:latin typeface="Calibri"/>
              </a:rPr>
              <a:t>Demasiado tiempo para quien solo quiere empezar a pagar.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737360"/>
            <a:ext cx="54864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4A5568"/>
                </a:solidFill>
                <a:latin typeface="Calibri"/>
              </a:rPr>
              <a:t>Los usuarios de smartphone que transfieren a diario montos pequeños abandonan o se demoran en registrarse.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4A5568"/>
                </a:solidFill>
                <a:latin typeface="Calibri"/>
              </a:rPr>
              <a:t>Cada abandono es un usuario perdido.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4A5568"/>
                </a:solidFill>
                <a:latin typeface="Calibri"/>
              </a:rPr>
              <a:t>Cada abandono también es un costo de adquisición desperdiciado.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64008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A quién ayudamos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4A5568"/>
                </a:solidFill>
                <a:latin typeface="Calibr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1064240" cy="2011680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03327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Como usuario de smartphone que realiza transferencias diarias de bajo monto, quiero completar el onboarding con un flujo guiado y señales claras de siguiente paso, para poder empezar a pagar sin abandonar el proceso.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114800"/>
            <a:ext cx="3566160" cy="1737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425196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FF7A00"/>
                </a:solidFill>
                <a:latin typeface="Calibri"/>
              </a:rPr>
              <a:t>Frecuente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489204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4A5568"/>
                </a:solidFill>
                <a:latin typeface="Calibri"/>
              </a:rPr>
              <a:t>Transfiere todos los días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79" y="4114800"/>
            <a:ext cx="3566160" cy="1737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1999" y="425196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FF7A00"/>
                </a:solidFill>
                <a:latin typeface="Calibri"/>
              </a:rPr>
              <a:t>Bajo monto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489204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4A5568"/>
                </a:solidFill>
                <a:latin typeface="Calibri"/>
              </a:rPr>
              <a:t>Pagos cotidianos pequeños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4114800"/>
            <a:ext cx="3566160" cy="1737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425196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FF7A00"/>
                </a:solidFill>
                <a:latin typeface="Calibri"/>
              </a:rPr>
              <a:t>Móvil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89204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4A5568"/>
                </a:solidFill>
                <a:latin typeface="Calibri"/>
              </a:rPr>
              <a:t>Todo desde el celular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64008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Qué mejoramos para el usuario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4A5568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C93C3C"/>
                </a:solidFill>
                <a:latin typeface="Calibri"/>
              </a:rPr>
              <a:t>ANTES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41732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E9E6A"/>
                </a:solidFill>
                <a:latin typeface="Calibri"/>
              </a:rPr>
              <a:t>AHORA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5303520" cy="7498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4A5568"/>
                </a:solidFill>
                <a:latin typeface="Calibri"/>
              </a:rPr>
              <a:t>No sabe cuántos pasos faltan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43600" y="2057400"/>
            <a:ext cx="365760" cy="384048"/>
          </a:xfrm>
          <a:prstGeom prst="rightArrow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874519"/>
            <a:ext cx="4480560" cy="7498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B2A5B"/>
                </a:solidFill>
                <a:latin typeface="Calibri"/>
              </a:rPr>
              <a:t>Ve los 5 pasos y el paso actual siempre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0" y="2020824"/>
            <a:ext cx="731520" cy="457200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CA-1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70632"/>
            <a:ext cx="5303520" cy="7498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4A5568"/>
                </a:solidFill>
                <a:latin typeface="Calibri"/>
              </a:rPr>
              <a:t>Los errores no dicen qué hacer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43600" y="2953512"/>
            <a:ext cx="365760" cy="384048"/>
          </a:xfrm>
          <a:prstGeom prst="rightArrow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2770632"/>
            <a:ext cx="4480560" cy="7498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B2A5B"/>
                </a:solidFill>
                <a:latin typeface="Calibri"/>
              </a:rPr>
              <a:t>Mensajes accionables, campo por campo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0" y="2916936"/>
            <a:ext cx="731520" cy="457200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CA-2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666744"/>
            <a:ext cx="5303520" cy="7498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4A5568"/>
                </a:solidFill>
                <a:latin typeface="Calibri"/>
              </a:rPr>
              <a:t>No sabe cuándo puede pagar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43600" y="3849624"/>
            <a:ext cx="365760" cy="384048"/>
          </a:xfrm>
          <a:prstGeom prst="rightArrow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0" y="3666744"/>
            <a:ext cx="4480560" cy="7498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B2A5B"/>
                </a:solidFill>
                <a:latin typeface="Calibri"/>
              </a:rPr>
              <a:t>Wallet ACTIVA y acceso a pagos al terminar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0" y="3813048"/>
            <a:ext cx="731520" cy="457200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CA-3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562856"/>
            <a:ext cx="5303520" cy="7498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4A5568"/>
                </a:solidFill>
                <a:latin typeface="Calibri"/>
              </a:rPr>
              <a:t>Si cierra la app, empieza de cero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943600" y="4745736"/>
            <a:ext cx="365760" cy="384048"/>
          </a:xfrm>
          <a:prstGeom prst="rightArrow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0" y="4562856"/>
            <a:ext cx="4480560" cy="7498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B2A5B"/>
                </a:solidFill>
                <a:latin typeface="Calibri"/>
              </a:rPr>
              <a:t>Retoma en el paso donde quedó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0" y="4709160"/>
            <a:ext cx="731520" cy="457200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458968"/>
            <a:ext cx="5303520" cy="7498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4A5568"/>
                </a:solidFill>
                <a:latin typeface="Calibri"/>
              </a:rPr>
              <a:t>Registro de ~8 minutos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5943600" y="5641848"/>
            <a:ext cx="365760" cy="384048"/>
          </a:xfrm>
          <a:prstGeom prst="rightArrow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0" y="5458968"/>
            <a:ext cx="4480560" cy="7498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B2A5B"/>
                </a:solidFill>
                <a:latin typeface="Calibri"/>
              </a:rPr>
              <a:t>Meta de 3 minutos de mediana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0" y="5605272"/>
            <a:ext cx="731520" cy="457200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CA-5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64008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Onboarding guiado en 5 pasos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4A5568"/>
                </a:solidFill>
                <a:latin typeface="Calibri"/>
              </a:rPr>
              <a:t>5</a:t>
            </a:r>
          </a:p>
        </p:txBody>
      </p:sp>
      <p:sp>
        <p:nvSpPr>
          <p:cNvPr id="7" name="Oval 6"/>
          <p:cNvSpPr/>
          <p:nvPr/>
        </p:nvSpPr>
        <p:spPr>
          <a:xfrm>
            <a:off x="1188719" y="2103120"/>
            <a:ext cx="822960" cy="822960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00400"/>
            <a:ext cx="210312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1920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0B2A5B"/>
                </a:solidFill>
                <a:latin typeface="Calibri"/>
              </a:rPr>
              <a:t>Datos personales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51760" y="2377440"/>
            <a:ext cx="137160" cy="274320"/>
          </a:xfrm>
          <a:prstGeom prst="rightArrow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29000" y="2103120"/>
            <a:ext cx="822960" cy="822960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3200400"/>
            <a:ext cx="210312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3291840"/>
            <a:ext cx="1920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0B2A5B"/>
                </a:solidFill>
                <a:latin typeface="Calibri"/>
              </a:rPr>
              <a:t>Celular con OTP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92040" y="2377440"/>
            <a:ext cx="137160" cy="274320"/>
          </a:xfrm>
          <a:prstGeom prst="rightArrow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669280" y="2103120"/>
            <a:ext cx="822960" cy="822960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3200400"/>
            <a:ext cx="210312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3291840"/>
            <a:ext cx="1920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0B2A5B"/>
                </a:solidFill>
                <a:latin typeface="Calibri"/>
              </a:rPr>
              <a:t>Validación de identidad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132320" y="2377440"/>
            <a:ext cx="137160" cy="274320"/>
          </a:xfrm>
          <a:prstGeom prst="rightArrow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09560" y="2103120"/>
            <a:ext cx="822960" cy="822960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9480" y="3200400"/>
            <a:ext cx="210312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0920" y="3291840"/>
            <a:ext cx="1920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0B2A5B"/>
                </a:solidFill>
                <a:latin typeface="Calibri"/>
              </a:rPr>
              <a:t>Términos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372600" y="2377440"/>
            <a:ext cx="137160" cy="274320"/>
          </a:xfrm>
          <a:prstGeom prst="rightArrow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149840" y="2103120"/>
            <a:ext cx="822960" cy="822960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09760" y="3200400"/>
            <a:ext cx="210312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3291840"/>
            <a:ext cx="1920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0B2A5B"/>
                </a:solidFill>
                <a:latin typeface="Calibri"/>
              </a:rPr>
              <a:t>Clave de pagos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029200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0">
                <a:solidFill>
                  <a:srgbClr val="4A5568"/>
                </a:solidFill>
                <a:latin typeface="Calibri"/>
              </a:rPr>
              <a:t>Al terminar, la wallet pasa de PENDIENTE a ACTIVA y el usuario accede al punto de entrada de pagos.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64008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Valor para el negocio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4A5568"/>
                </a:solidFill>
                <a:latin typeface="Calibri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3566160" cy="4206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3566160" cy="109728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10312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0B2A5B"/>
                </a:solidFill>
                <a:latin typeface="Calibri"/>
              </a:rPr>
              <a:t>Más conversión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017520"/>
            <a:ext cx="30175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4A5568"/>
                </a:solidFill>
                <a:latin typeface="Calibri"/>
              </a:rPr>
              <a:t>Menos abandono: el usuario ve el avance y sabe cómo corregir errores.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737360"/>
            <a:ext cx="3566160" cy="4206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79" y="1737360"/>
            <a:ext cx="3566160" cy="109728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1999" y="210312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0B2A5B"/>
                </a:solidFill>
                <a:latin typeface="Calibri"/>
              </a:rPr>
              <a:t>Visibilidad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3017520"/>
            <a:ext cx="30175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4A5568"/>
                </a:solidFill>
                <a:latin typeface="Calibri"/>
              </a:rPr>
              <a:t>Eventos del embudo muestran dónde se pierde gente, sin datos personales (CA-4).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737360"/>
            <a:ext cx="3566160" cy="4206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19" y="1737360"/>
            <a:ext cx="3566160" cy="109728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10312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0B2A5B"/>
                </a:solidFill>
                <a:latin typeface="Calibri"/>
              </a:rPr>
              <a:t>Control de costos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017520"/>
            <a:ext cx="30175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4A5568"/>
                </a:solidFill>
                <a:latin typeface="Calibri"/>
              </a:rPr>
              <a:t>Reporte mensual de nuevos activos, gasto y CAC por canal (CA-6).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64008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Métricas de éxito · primeros 3 meses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4A5568"/>
                </a:solidFill>
                <a:latin typeface="Calibri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566160" cy="3291840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32004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 b="1">
                <a:solidFill>
                  <a:srgbClr val="FF7A00"/>
                </a:solidFill>
                <a:latin typeface="Calibri"/>
              </a:rPr>
              <a:t>8 → 3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749039"/>
            <a:ext cx="3017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Mediana de onboarding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828800"/>
            <a:ext cx="3566160" cy="3291840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2286000"/>
            <a:ext cx="32004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 b="1">
                <a:solidFill>
                  <a:srgbClr val="FF7A00"/>
                </a:solidFill>
                <a:latin typeface="Calibri"/>
              </a:rPr>
              <a:t>1,000–2,000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3749039"/>
            <a:ext cx="3017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Usuarios activos mensuales (MAU)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828800"/>
            <a:ext cx="3566160" cy="3291840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9" y="2286000"/>
            <a:ext cx="32004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 b="1">
                <a:solidFill>
                  <a:srgbClr val="FF7A00"/>
                </a:solidFill>
                <a:latin typeface="Calibri"/>
              </a:rPr>
              <a:t>S/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749039"/>
            <a:ext cx="3017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CAC por usuario nuevo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39496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0">
                <a:solidFill>
                  <a:srgbClr val="4A5568"/>
                </a:solidFill>
                <a:latin typeface="Calibri"/>
              </a:rPr>
              <a:t>El MVP exige la medición de estas metas; se verifican en producción.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64008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Alcance y riesgos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4A5568"/>
                </a:solidFill>
                <a:latin typeface="Calibri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5394960" cy="4297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1E9E6A"/>
                </a:solidFill>
                <a:latin typeface="Calibri"/>
              </a:rPr>
              <a:t>Alcance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484632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>
                <a:solidFill>
                  <a:srgbClr val="4A5568"/>
                </a:solidFill>
                <a:latin typeface="Calibri"/>
              </a:rPr>
              <a:t>Incluye: onboarding, activación y métricas.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4A5568"/>
                </a:solidFill>
                <a:latin typeface="Calibri"/>
              </a:rPr>
              <a:t>No incluye: los pagos en sí (otra historia).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4A5568"/>
                </a:solidFill>
                <a:latin typeface="Calibri"/>
              </a:rPr>
              <a:t>OTP y validación de identidad simulados.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394960" cy="4297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74519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C93C3C"/>
                </a:solidFill>
                <a:latin typeface="Calibri"/>
              </a:rPr>
              <a:t>Riesgos y cumplimiento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560320"/>
            <a:ext cx="484632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>
                <a:solidFill>
                  <a:srgbClr val="4A5568"/>
                </a:solidFill>
                <a:latin typeface="Calibri"/>
              </a:rPr>
              <a:t>Pendiente RS-6: sesión autenticada del dispositivo.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4A5568"/>
                </a:solidFill>
                <a:latin typeface="Calibri"/>
              </a:rPr>
              <a:t>Pendiente RS-7: límite de intentos de OTP y clave.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4A5568"/>
                </a:solidFill>
                <a:latin typeface="Calibri"/>
              </a:rPr>
              <a:t>Consentimiento de datos (Ley N.° 29733) y clave con hash.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64008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Siguientes pasos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4A5568"/>
                </a:solidFill>
                <a:latin typeface="Calibri"/>
              </a:rPr>
              <a:t>9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737360"/>
            <a:ext cx="1005840" cy="1005840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1691639"/>
            <a:ext cx="9601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1783080"/>
            <a:ext cx="2286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0B2A5B"/>
                </a:solidFill>
                <a:latin typeface="Calibri"/>
              </a:rPr>
              <a:t>Lanzar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783080"/>
            <a:ext cx="6858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4A5568"/>
                </a:solidFill>
                <a:latin typeface="Calibri"/>
              </a:rPr>
              <a:t>Salir con el canal orgánico.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200400"/>
            <a:ext cx="1005840" cy="1005840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11680" y="3154680"/>
            <a:ext cx="9601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3246120"/>
            <a:ext cx="2286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0B2A5B"/>
                </a:solidFill>
                <a:latin typeface="Calibri"/>
              </a:rPr>
              <a:t>Medir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246120"/>
            <a:ext cx="6858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4A5568"/>
                </a:solidFill>
                <a:latin typeface="Calibri"/>
              </a:rPr>
              <a:t>Seguir mediana y CAC durante el primer mes.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663440"/>
            <a:ext cx="1005840" cy="1005840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1680" y="4617720"/>
            <a:ext cx="9601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86000" y="4709159"/>
            <a:ext cx="2286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0B2A5B"/>
                </a:solidFill>
                <a:latin typeface="Calibri"/>
              </a:rPr>
              <a:t>Asegurar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709159"/>
            <a:ext cx="6858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4A5568"/>
                </a:solidFill>
                <a:latin typeface="Calibri"/>
              </a:rPr>
              <a:t>Priorizar RS-6 y RS-7 antes de abrir a usuarios reales.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